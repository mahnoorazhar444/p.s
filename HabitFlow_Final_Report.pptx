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HabitFlow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Habit Tracker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0" y="2331720"/>
            <a:ext cx="3657600" cy="36576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Software Engineering Report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3200400"/>
            <a:ext cx="3474720" cy="594360"/>
          </a:xfrm>
          <a:prstGeom prst="rect">
            <a:avLst/>
          </a:prstGeom>
          <a:solidFill>
            <a:srgbClr val="162032"/>
          </a:solidFill>
          <a:ln w="1270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51560" y="325526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51560" y="345643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HabitFlow v1.0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3200400"/>
            <a:ext cx="3474720" cy="594360"/>
          </a:xfrm>
          <a:prstGeom prst="rect">
            <a:avLst/>
          </a:prstGeom>
          <a:solidFill>
            <a:srgbClr val="162032"/>
          </a:solidFill>
          <a:ln w="1270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325526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892040" y="345643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· Tkinter · SQLite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3950208"/>
            <a:ext cx="3474720" cy="594360"/>
          </a:xfrm>
          <a:prstGeom prst="rect">
            <a:avLst/>
          </a:prstGeom>
          <a:solidFill>
            <a:srgbClr val="162032"/>
          </a:solidFill>
          <a:ln w="1270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51560" y="40050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51560" y="42062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Mahnoor et al.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3950208"/>
            <a:ext cx="3474720" cy="594360"/>
          </a:xfrm>
          <a:prstGeom prst="rect">
            <a:avLst/>
          </a:prstGeom>
          <a:solidFill>
            <a:srgbClr val="162032"/>
          </a:solidFill>
          <a:ln w="1270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40050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892040" y="42062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2025–26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4251960" cy="548640"/>
          </a:xfrm>
          <a:prstGeom prst="rect">
            <a:avLst/>
          </a:prstGeom>
          <a:solidFill>
            <a:srgbClr val="162032"/>
          </a:solidFill>
          <a:ln w="63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051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078992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Model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627632"/>
            <a:ext cx="4251960" cy="548640"/>
          </a:xfrm>
          <a:prstGeom prst="rect">
            <a:avLst/>
          </a:prstGeom>
          <a:solidFill>
            <a:srgbClr val="162032"/>
          </a:solidFill>
          <a:ln w="63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171907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1746504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Process Improvement (SPI)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2295144"/>
            <a:ext cx="4251960" cy="548640"/>
          </a:xfrm>
          <a:prstGeom prst="rect">
            <a:avLst/>
          </a:prstGeom>
          <a:solidFill>
            <a:srgbClr val="162032"/>
          </a:solidFill>
          <a:ln w="63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1480" y="238658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2414016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Control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962656"/>
            <a:ext cx="4251960" cy="548640"/>
          </a:xfrm>
          <a:prstGeom prst="rect">
            <a:avLst/>
          </a:prstGeom>
          <a:solidFill>
            <a:srgbClr val="162032"/>
          </a:solidFill>
          <a:ln w="63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305409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308152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Lehman's Laws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3630168"/>
            <a:ext cx="4251960" cy="548640"/>
          </a:xfrm>
          <a:prstGeom prst="rect">
            <a:avLst/>
          </a:prstGeom>
          <a:solidFill>
            <a:srgbClr val="162032"/>
          </a:solidFill>
          <a:ln w="63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372160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3749040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Deployment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4297680"/>
            <a:ext cx="4251960" cy="548640"/>
          </a:xfrm>
          <a:prstGeom prst="rect">
            <a:avLst/>
          </a:prstGeom>
          <a:solidFill>
            <a:srgbClr val="162032"/>
          </a:solidFill>
          <a:ln w="63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1480" y="4389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4416552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Refactoring &amp; Legacy Removal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00600" y="960120"/>
            <a:ext cx="4251960" cy="548640"/>
          </a:xfrm>
          <a:prstGeom prst="rect">
            <a:avLst/>
          </a:prstGeom>
          <a:solidFill>
            <a:srgbClr val="162032"/>
          </a:solidFill>
          <a:ln w="63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92040" y="1051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94960" y="1078992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Testing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00600" y="1627632"/>
            <a:ext cx="4251960" cy="548640"/>
          </a:xfrm>
          <a:prstGeom prst="rect">
            <a:avLst/>
          </a:prstGeom>
          <a:solidFill>
            <a:srgbClr val="162032"/>
          </a:solidFill>
          <a:ln w="63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92040" y="171907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94960" y="1746504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00600" y="2295144"/>
            <a:ext cx="4251960" cy="548640"/>
          </a:xfrm>
          <a:prstGeom prst="rect">
            <a:avLst/>
          </a:prstGeom>
          <a:solidFill>
            <a:srgbClr val="162032"/>
          </a:solidFill>
          <a:ln w="63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92040" y="238658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94960" y="2414016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 Handling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00600" y="2962656"/>
            <a:ext cx="4251960" cy="548640"/>
          </a:xfrm>
          <a:prstGeom prst="rect">
            <a:avLst/>
          </a:prstGeom>
          <a:solidFill>
            <a:srgbClr val="162032"/>
          </a:solidFill>
          <a:ln w="63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92040" y="305409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94960" y="308152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Reviews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800600" y="3630168"/>
            <a:ext cx="4251960" cy="548640"/>
          </a:xfrm>
          <a:prstGeom prst="rect">
            <a:avLst/>
          </a:prstGeom>
          <a:solidFill>
            <a:srgbClr val="162032"/>
          </a:solidFill>
          <a:ln w="63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892040" y="372160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394960" y="3749040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Roles &amp; Learning Outcomes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HabitFlow – Final Software Engineering Report  |  2025–26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945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FFFF">
                    <a:alpha val="3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Process Model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model was implemented &amp; why?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864608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HabitFlow – Final Report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· Incremental Model – Justification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36576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8595360" cy="621792"/>
          </a:xfrm>
          <a:prstGeom prst="rect">
            <a:avLst/>
          </a:prstGeom>
          <a:solidFill>
            <a:srgbClr val="162032"/>
          </a:solidFill>
          <a:ln w="635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54864" cy="62179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Chosen Model: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/ Iterative Development Model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709928"/>
            <a:ext cx="8595360" cy="621792"/>
          </a:xfrm>
          <a:prstGeom prst="rect">
            <a:avLst/>
          </a:prstGeom>
          <a:solidFill>
            <a:srgbClr val="162032"/>
          </a:solidFill>
          <a:ln w="635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709928"/>
            <a:ext cx="54864" cy="62179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0136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database setup + user login/registration (Authentication module)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459736"/>
            <a:ext cx="8595360" cy="621792"/>
          </a:xfrm>
          <a:prstGeom prst="rect">
            <a:avLst/>
          </a:prstGeom>
          <a:solidFill>
            <a:srgbClr val="162032"/>
          </a:solidFill>
          <a:ln w="635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459736"/>
            <a:ext cx="54864" cy="62179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5117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UI, habit cards, checkbox completion &amp; streak tracking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209544"/>
            <a:ext cx="8595360" cy="621792"/>
          </a:xfrm>
          <a:prstGeom prst="rect">
            <a:avLst/>
          </a:prstGeom>
          <a:solidFill>
            <a:srgbClr val="162032"/>
          </a:solidFill>
          <a:ln w="635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209544"/>
            <a:ext cx="54864" cy="62179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30098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stats, grading system, ReportManager, Admin panel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959352"/>
            <a:ext cx="8595360" cy="621792"/>
          </a:xfrm>
          <a:prstGeom prst="rect">
            <a:avLst/>
          </a:prstGeom>
          <a:solidFill>
            <a:srgbClr val="162032"/>
          </a:solidFill>
          <a:ln w="635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959352"/>
            <a:ext cx="54864" cy="62179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050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Incremental?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module (User, Habit, Timer, Report) was independently developed, tested, and integrated — matching incremental model principles perfectly.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HabitFlow – Final Software Engineering Report  |  2025–26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945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FFFF">
                    <a:alpha val="3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Software Process Improvement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 practices applied during development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864608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HabitFlow – Final Report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· SPI – Improvements Made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36576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8595360" cy="621792"/>
          </a:xfrm>
          <a:prstGeom prst="rect">
            <a:avLst/>
          </a:prstGeom>
          <a:solidFill>
            <a:srgbClr val="162032"/>
          </a:solidFill>
          <a:ln w="6350">
            <a:solidFill>
              <a:srgbClr val="26A6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54864" cy="621792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A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Reviews: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walkthroughs conducted after each module; issues logged and corrected before integration.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709928"/>
            <a:ext cx="8595360" cy="621792"/>
          </a:xfrm>
          <a:prstGeom prst="rect">
            <a:avLst/>
          </a:prstGeom>
          <a:solidFill>
            <a:srgbClr val="162032"/>
          </a:solidFill>
          <a:ln w="6350">
            <a:solidFill>
              <a:srgbClr val="26A6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709928"/>
            <a:ext cx="54864" cy="621792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0136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A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Refactoring: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Replaced monolithic code blocks with dedicated classes (DatabaseManager, StreakManager, Admin) improving cohesion.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459736"/>
            <a:ext cx="8595360" cy="621792"/>
          </a:xfrm>
          <a:prstGeom prst="rect">
            <a:avLst/>
          </a:prstGeom>
          <a:solidFill>
            <a:srgbClr val="162032"/>
          </a:solidFill>
          <a:ln w="6350">
            <a:solidFill>
              <a:srgbClr val="26A6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459736"/>
            <a:ext cx="54864" cy="621792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5117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A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 Handling: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 try/except blocks across all DB operations and UI actions to prevent crashes.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209544"/>
            <a:ext cx="8595360" cy="621792"/>
          </a:xfrm>
          <a:prstGeom prst="rect">
            <a:avLst/>
          </a:prstGeom>
          <a:solidFill>
            <a:srgbClr val="162032"/>
          </a:solidFill>
          <a:ln w="6350">
            <a:solidFill>
              <a:srgbClr val="26A6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209544"/>
            <a:ext cx="54864" cy="621792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30098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A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Tests: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unittest module integrated at the bottom of habitflow.py for regression safety.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959352"/>
            <a:ext cx="8595360" cy="621792"/>
          </a:xfrm>
          <a:prstGeom prst="rect">
            <a:avLst/>
          </a:prstGeom>
          <a:solidFill>
            <a:srgbClr val="162032"/>
          </a:solidFill>
          <a:ln w="6350">
            <a:solidFill>
              <a:srgbClr val="26A6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959352"/>
            <a:ext cx="54864" cy="621792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050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A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Docstrings added to every class and method following PEP 257 standards.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HabitFlow – Final Software Engineering Report  |  2025–26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945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FFFF">
                    <a:alpha val="3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Version Control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Git-based source control strategy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864608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HabitFlow – Final Report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· Version Control with Git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4206240" cy="804672"/>
          </a:xfrm>
          <a:prstGeom prst="rect">
            <a:avLst/>
          </a:prstGeom>
          <a:solidFill>
            <a:srgbClr val="162032"/>
          </a:solidFill>
          <a:ln w="63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54864" cy="80467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6070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Used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25272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+ GitHub for distributed version control throughout development.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938528"/>
            <a:ext cx="4206240" cy="804672"/>
          </a:xfrm>
          <a:prstGeom prst="rect">
            <a:avLst/>
          </a:prstGeom>
          <a:solidFill>
            <a:srgbClr val="162032"/>
          </a:solidFill>
          <a:ln w="63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938528"/>
            <a:ext cx="54864" cy="80467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993392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Strategy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218541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branch for stable releases; feature/* branches for new modules (feature/auth, feature/stats).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871216"/>
            <a:ext cx="4206240" cy="804672"/>
          </a:xfrm>
          <a:prstGeom prst="rect">
            <a:avLst/>
          </a:prstGeom>
          <a:solidFill>
            <a:srgbClr val="162032"/>
          </a:solidFill>
          <a:ln w="63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871216"/>
            <a:ext cx="54864" cy="80467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92608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Convention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3118104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commits: feat:, fix:, refactor:, test:, docs: prefixes used consistently.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1005840"/>
            <a:ext cx="4206240" cy="804672"/>
          </a:xfrm>
          <a:prstGeom prst="rect">
            <a:avLst/>
          </a:prstGeom>
          <a:solidFill>
            <a:srgbClr val="162032"/>
          </a:solidFill>
          <a:ln w="63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1005840"/>
            <a:ext cx="54864" cy="80467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06070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Milestones Tagged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46320" y="125272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v0.1 – DB &amp; Auth; v0.2 – Dashboard; v0.3 – Stats; v1.0 – Final release.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09160" y="1938528"/>
            <a:ext cx="4206240" cy="804672"/>
          </a:xfrm>
          <a:prstGeom prst="rect">
            <a:avLst/>
          </a:prstGeom>
          <a:solidFill>
            <a:srgbClr val="162032"/>
          </a:solidFill>
          <a:ln w="63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1938528"/>
            <a:ext cx="54864" cy="80467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993392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.gitignore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18541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habitflow.db, __pycache__/, *.pyc excluded to keep repo clean.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09160" y="2871216"/>
            <a:ext cx="4206240" cy="804672"/>
          </a:xfrm>
          <a:prstGeom prst="rect">
            <a:avLst/>
          </a:prstGeom>
          <a:solidFill>
            <a:srgbClr val="162032"/>
          </a:solidFill>
          <a:ln w="63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871216"/>
            <a:ext cx="54864" cy="80467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92608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46320" y="3118104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requests used for peer review before merging feature branches into main.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HabitFlow – Final Software Engineering Report  |  2025–26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945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FFFF">
                    <a:alpha val="3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Lehman's Laws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HabitFlow justifies software evolution principles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864608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HabitFlow – Final Report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· Lehman's Laws – Applied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36576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8595360" cy="621792"/>
          </a:xfrm>
          <a:prstGeom prst="rect">
            <a:avLst/>
          </a:prstGeom>
          <a:solidFill>
            <a:srgbClr val="162032"/>
          </a:solidFill>
          <a:ln w="6350">
            <a:solidFill>
              <a:srgbClr val="FFA7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54864" cy="621792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 of Continuing Change: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HabitFlow added new features iteratively (streaks → grades → reports), showing that software must evolve to remain relevant.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709928"/>
            <a:ext cx="8595360" cy="621792"/>
          </a:xfrm>
          <a:prstGeom prst="rect">
            <a:avLst/>
          </a:prstGeom>
          <a:solidFill>
            <a:srgbClr val="162032"/>
          </a:solidFill>
          <a:ln w="6350">
            <a:solidFill>
              <a:srgbClr val="FFA7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709928"/>
            <a:ext cx="54864" cy="621792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0136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 of Increasing Complexity: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features grew (Timer, Admin, ReportManager), complexity increased — managed via OOP encapsulation and modular design.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459736"/>
            <a:ext cx="8595360" cy="621792"/>
          </a:xfrm>
          <a:prstGeom prst="rect">
            <a:avLst/>
          </a:prstGeom>
          <a:solidFill>
            <a:srgbClr val="162032"/>
          </a:solidFill>
          <a:ln w="6350">
            <a:solidFill>
              <a:srgbClr val="FFA7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459736"/>
            <a:ext cx="54864" cy="621792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5117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 of Self-Regulation: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milestones (v0.1→v1.0) were self-regulated through testing gates before promotion.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209544"/>
            <a:ext cx="8595360" cy="621792"/>
          </a:xfrm>
          <a:prstGeom prst="rect">
            <a:avLst/>
          </a:prstGeom>
          <a:solidFill>
            <a:srgbClr val="162032"/>
          </a:solidFill>
          <a:ln w="6350">
            <a:solidFill>
              <a:srgbClr val="FFA7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209544"/>
            <a:ext cx="54864" cy="621792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30098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 of Conservation of Familiarity: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new increment preserved the existing Tkinter UI patterns so users experienced no disruptive changes.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HabitFlow – Final Software Engineering Report  |  2025–26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945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FFFF">
                    <a:alpha val="3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Software Deployment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Packaging and distribution of HabitFlow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864608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HabitFlow – Final Report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 · Deployment Strategy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36576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4206240" cy="804672"/>
          </a:xfrm>
          <a:prstGeom prst="rect">
            <a:avLst/>
          </a:prstGeom>
          <a:solidFill>
            <a:srgbClr val="162032"/>
          </a:solidFill>
          <a:ln w="6350">
            <a:solidFill>
              <a:srgbClr val="26A6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54864" cy="804672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6070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A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Tool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25272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PyInstaller used to bundle habitflow.py into a standalone .exe for Windows.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938528"/>
            <a:ext cx="4206240" cy="804672"/>
          </a:xfrm>
          <a:prstGeom prst="rect">
            <a:avLst/>
          </a:prstGeom>
          <a:solidFill>
            <a:srgbClr val="162032"/>
          </a:solidFill>
          <a:ln w="6350">
            <a:solidFill>
              <a:srgbClr val="26A6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938528"/>
            <a:ext cx="54864" cy="804672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993392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A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Used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218541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pyinstaller --onefile --noconsole habitflow.py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871216"/>
            <a:ext cx="4206240" cy="804672"/>
          </a:xfrm>
          <a:prstGeom prst="rect">
            <a:avLst/>
          </a:prstGeom>
          <a:solidFill>
            <a:srgbClr val="162032"/>
          </a:solidFill>
          <a:ln w="6350">
            <a:solidFill>
              <a:srgbClr val="26A6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871216"/>
            <a:ext cx="54864" cy="804672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92608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A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run_habitflow.bat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3118104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launcher script provided for running directly from source without installing.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1005840"/>
            <a:ext cx="4206240" cy="804672"/>
          </a:xfrm>
          <a:prstGeom prst="rect">
            <a:avLst/>
          </a:prstGeom>
          <a:solidFill>
            <a:srgbClr val="162032"/>
          </a:solidFill>
          <a:ln w="6350">
            <a:solidFill>
              <a:srgbClr val="26A6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1005840"/>
            <a:ext cx="54864" cy="804672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06070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A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46320" y="125272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habitflow.db auto-created at runtime in the working directory — zero config for end users.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09160" y="1938528"/>
            <a:ext cx="4206240" cy="804672"/>
          </a:xfrm>
          <a:prstGeom prst="rect">
            <a:avLst/>
          </a:prstGeom>
          <a:solidFill>
            <a:srgbClr val="162032"/>
          </a:solidFill>
          <a:ln w="6350">
            <a:solidFill>
              <a:srgbClr val="26A6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1938528"/>
            <a:ext cx="54864" cy="804672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993392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A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18541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Python standard library used (tkinter, sqlite3, hashlib) — no external pip packages required.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09160" y="2871216"/>
            <a:ext cx="4206240" cy="804672"/>
          </a:xfrm>
          <a:prstGeom prst="rect">
            <a:avLst/>
          </a:prstGeom>
          <a:solidFill>
            <a:srgbClr val="162032"/>
          </a:solidFill>
          <a:ln w="6350">
            <a:solidFill>
              <a:srgbClr val="26A6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871216"/>
            <a:ext cx="54864" cy="804672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92608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A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Platform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46320" y="3118104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10/11 desktop. Tested locally before distribution.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HabitFlow – Final Software Engineering Report  |  2025–26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945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FFFF">
                    <a:alpha val="3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Code Refactoring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Removing legacy code &amp; improving structure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864608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HabitFlow – Final Report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 · Refactoring &amp; Legacy Removal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36576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8595360" cy="621792"/>
          </a:xfrm>
          <a:prstGeom prst="rect">
            <a:avLst/>
          </a:prstGeom>
          <a:solidFill>
            <a:srgbClr val="162032"/>
          </a:solidFill>
          <a:ln w="635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54864" cy="62179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Monolithic → OOP: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single-file procedural script refactored into 8 dedicated classes (DatabaseManager, User, Habit, StreakManager, Timer, ReportManager, Admin, HabitApp).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709928"/>
            <a:ext cx="8595360" cy="621792"/>
          </a:xfrm>
          <a:prstGeom prst="rect">
            <a:avLst/>
          </a:prstGeom>
          <a:solidFill>
            <a:srgbClr val="162032"/>
          </a:solidFill>
          <a:ln w="635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709928"/>
            <a:ext cx="54864" cy="62179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0136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Inline → Methods: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inline SQL replaced with db.execute_query() / db.fetch_all() wrappers for consistency and reuse.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459736"/>
            <a:ext cx="8595360" cy="621792"/>
          </a:xfrm>
          <a:prstGeom prst="rect">
            <a:avLst/>
          </a:prstGeom>
          <a:solidFill>
            <a:srgbClr val="162032"/>
          </a:solidFill>
          <a:ln w="635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459736"/>
            <a:ext cx="54864" cy="62179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5117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Hard-coded Values: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Magic strings (category names, grade thresholds) centralized via db-seeded categories table and named constants.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209544"/>
            <a:ext cx="8595360" cy="621792"/>
          </a:xfrm>
          <a:prstGeom prst="rect">
            <a:avLst/>
          </a:prstGeom>
          <a:solidFill>
            <a:srgbClr val="162032"/>
          </a:solidFill>
          <a:ln w="635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209544"/>
            <a:ext cx="54864" cy="62179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30098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Logic: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Streak calculation logic unified into StreakManager.check_and_update_streak() — previously duplicated across 3 places.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959352"/>
            <a:ext cx="8595360" cy="621792"/>
          </a:xfrm>
          <a:prstGeom prst="rect">
            <a:avLst/>
          </a:prstGeom>
          <a:solidFill>
            <a:srgbClr val="162032"/>
          </a:solidFill>
          <a:ln w="635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959352"/>
            <a:ext cx="54864" cy="62179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050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 Code: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 unused import statements and commented-out debug print() calls from production code.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HabitFlow – Final Software Engineering Report  |  2025–26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945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FFFF">
                    <a:alpha val="3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Unit Testing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unit tests using Python unittest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864608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HabitFlow – Final Report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 · Unit Tests – Coverage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8595360" cy="621792"/>
          </a:xfrm>
          <a:prstGeom prst="rect">
            <a:avLst/>
          </a:prstGeom>
          <a:solidFill>
            <a:srgbClr val="162032"/>
          </a:solidFill>
          <a:ln w="63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54864" cy="62179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built-in unittest module — test class appended at the bottom of habitflow.py.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709928"/>
            <a:ext cx="8595360" cy="621792"/>
          </a:xfrm>
          <a:prstGeom prst="rect">
            <a:avLst/>
          </a:prstGeom>
          <a:solidFill>
            <a:srgbClr val="162032"/>
          </a:solidFill>
          <a:ln w="63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709928"/>
            <a:ext cx="54864" cy="62179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0136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TestDatabaseManager: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init_db(), execute_query(), fetch_all(), fetch_one() with in-memory ':memory:' SQLite DB.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459736"/>
            <a:ext cx="8595360" cy="621792"/>
          </a:xfrm>
          <a:prstGeom prst="rect">
            <a:avLst/>
          </a:prstGeom>
          <a:solidFill>
            <a:srgbClr val="162032"/>
          </a:solidFill>
          <a:ln w="63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459736"/>
            <a:ext cx="54864" cy="62179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5117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TestUserManager: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register(), login() success &amp; failure, duplicate username rejection, empty field validation.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209544"/>
            <a:ext cx="8595360" cy="621792"/>
          </a:xfrm>
          <a:prstGeom prst="rect">
            <a:avLst/>
          </a:prstGeom>
          <a:solidFill>
            <a:srgbClr val="162032"/>
          </a:solidFill>
          <a:ln w="63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209544"/>
            <a:ext cx="54864" cy="62179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30098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TestAdminManager: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add_habit() with valid/empty name, edit_habit(), delete_habit() cascade log deletion.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959352"/>
            <a:ext cx="8595360" cy="621792"/>
          </a:xfrm>
          <a:prstGeom prst="rect">
            <a:avLst/>
          </a:prstGeom>
          <a:solidFill>
            <a:srgbClr val="162032"/>
          </a:solidFill>
          <a:ln w="63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959352"/>
            <a:ext cx="54864" cy="62179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050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TestStreakManager: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streak increment, reset after missed day, invalid date handling.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HabitFlow – Final Software Engineering Report  |  2025–26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945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FFFF">
                    <a:alpha val="3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Automated Testing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CI-style test execution approach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864608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HabitFlow – Final Report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 · Automated Testing Strategy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36576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8595360" cy="621792"/>
          </a:xfrm>
          <a:prstGeom prst="rect">
            <a:avLst/>
          </a:prstGeom>
          <a:solidFill>
            <a:srgbClr val="162032"/>
          </a:solidFill>
          <a:ln w="6350">
            <a:solidFill>
              <a:srgbClr val="FFA7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54864" cy="621792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Runner: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-m unittest discover runs all test cases automatically from CLI — no manual invocation needed.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709928"/>
            <a:ext cx="8595360" cy="621792"/>
          </a:xfrm>
          <a:prstGeom prst="rect">
            <a:avLst/>
          </a:prstGeom>
          <a:solidFill>
            <a:srgbClr val="162032"/>
          </a:solidFill>
          <a:ln w="6350">
            <a:solidFill>
              <a:srgbClr val="FFA7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709928"/>
            <a:ext cx="54864" cy="621792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0136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In-Memory DB: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tests use sqlite3.connect(':memory:') so no real .db file is created or modified during test runs.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459736"/>
            <a:ext cx="8595360" cy="621792"/>
          </a:xfrm>
          <a:prstGeom prst="rect">
            <a:avLst/>
          </a:prstGeom>
          <a:solidFill>
            <a:srgbClr val="162032"/>
          </a:solidFill>
          <a:ln w="6350">
            <a:solidFill>
              <a:srgbClr val="FFA7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459736"/>
            <a:ext cx="54864" cy="621792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5117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setUp() / tearDown() methods create a fresh DatabaseManager instance per test, ensuring test independence.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209544"/>
            <a:ext cx="8595360" cy="621792"/>
          </a:xfrm>
          <a:prstGeom prst="rect">
            <a:avLst/>
          </a:prstGeom>
          <a:solidFill>
            <a:srgbClr val="162032"/>
          </a:solidFill>
          <a:ln w="6350">
            <a:solidFill>
              <a:srgbClr val="FFA7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209544"/>
            <a:ext cx="54864" cy="621792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30098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Script: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run_tests.bat (or CI pipeline) can invoke python -m unittest habitflow to automate regression testing on every commit.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959352"/>
            <a:ext cx="8595360" cy="621792"/>
          </a:xfrm>
          <a:prstGeom prst="rect">
            <a:avLst/>
          </a:prstGeom>
          <a:solidFill>
            <a:srgbClr val="162032"/>
          </a:solidFill>
          <a:ln w="6350">
            <a:solidFill>
              <a:srgbClr val="FFA7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959352"/>
            <a:ext cx="54864" cy="621792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050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Areas: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logic (User, Admin, Streak) fully tested. GUI layer tested manually via walkthrough review.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HabitFlow – Final Software Engineering Report  |  2025–26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945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FFFF">
                    <a:alpha val="3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Exception Handling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 error management throughout the codebase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864608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HabitFlow – Final Report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 · Exception Handling Patterns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36576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4206240" cy="804672"/>
          </a:xfrm>
          <a:prstGeom prst="rect">
            <a:avLst/>
          </a:prstGeom>
          <a:solidFill>
            <a:srgbClr val="162032"/>
          </a:solidFill>
          <a:ln w="6350">
            <a:solidFill>
              <a:srgbClr val="26A6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54864" cy="804672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6070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A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Init Errors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25272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try/except sqlite3.Error in init_db() shows error dialog instead of crashing on corrupt DB.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938528"/>
            <a:ext cx="4206240" cy="804672"/>
          </a:xfrm>
          <a:prstGeom prst="rect">
            <a:avLst/>
          </a:prstGeom>
          <a:solidFill>
            <a:srgbClr val="162032"/>
          </a:solidFill>
          <a:ln w="6350">
            <a:solidFill>
              <a:srgbClr val="26A6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938528"/>
            <a:ext cx="54864" cy="804672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993392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A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Usernames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218541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sqlite3.IntegrityError caught in User.register() — raises descriptive ValueError to UI layer.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871216"/>
            <a:ext cx="4206240" cy="804672"/>
          </a:xfrm>
          <a:prstGeom prst="rect">
            <a:avLst/>
          </a:prstGeom>
          <a:solidFill>
            <a:srgbClr val="162032"/>
          </a:solidFill>
          <a:ln w="6350">
            <a:solidFill>
              <a:srgbClr val="26A6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871216"/>
            <a:ext cx="54864" cy="804672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92608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A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Invalid Date Formats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3118104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ValueError caught in StreakManager when last_completed has malformed date; streak resets safely.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1005840"/>
            <a:ext cx="4206240" cy="804672"/>
          </a:xfrm>
          <a:prstGeom prst="rect">
            <a:avLst/>
          </a:prstGeom>
          <a:solidFill>
            <a:srgbClr val="162032"/>
          </a:solidFill>
          <a:ln w="6350">
            <a:solidFill>
              <a:srgbClr val="26A6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1005840"/>
            <a:ext cx="54864" cy="804672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06070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A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Widget Exists Check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46320" y="125272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Timer.update_clock() calls winfo_exists() before updating label — prevents crash on window close.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09160" y="1938528"/>
            <a:ext cx="4206240" cy="804672"/>
          </a:xfrm>
          <a:prstGeom prst="rect">
            <a:avLst/>
          </a:prstGeom>
          <a:solidFill>
            <a:srgbClr val="162032"/>
          </a:solidFill>
          <a:ln w="6350">
            <a:solidFill>
              <a:srgbClr val="26A6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1938528"/>
            <a:ext cx="54864" cy="804672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993392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A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 Input Guards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18541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Admin.add_habit() and User.login() raise ValueError for empty fields before hitting the DB.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09160" y="2871216"/>
            <a:ext cx="4206240" cy="804672"/>
          </a:xfrm>
          <a:prstGeom prst="rect">
            <a:avLst/>
          </a:prstGeom>
          <a:solidFill>
            <a:srgbClr val="162032"/>
          </a:solidFill>
          <a:ln w="6350">
            <a:solidFill>
              <a:srgbClr val="26A6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871216"/>
            <a:ext cx="54864" cy="804672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92608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A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Clear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46320" y="3118104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HabitApp.show_frame() wraps widget destruction in try/except to handle widget-already-destroyed race.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HabitFlow – Final Software Engineering Report  |  2025–26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945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FFFF">
                    <a:alpha val="3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010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Peer Reviews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Inspections, walkthroughs &amp; review sessions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864608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HabitFlow – Final Report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 · Peer Review Process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36576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8595360" cy="621792"/>
          </a:xfrm>
          <a:prstGeom prst="rect">
            <a:avLst/>
          </a:prstGeom>
          <a:solidFill>
            <a:srgbClr val="162032"/>
          </a:solidFill>
          <a:ln w="635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54864" cy="62179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Walkthroughs: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Author-led code walkthroughs conducted after completion of each module; all teammates reviewed logic flow and edge cases.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709928"/>
            <a:ext cx="8595360" cy="621792"/>
          </a:xfrm>
          <a:prstGeom prst="rect">
            <a:avLst/>
          </a:prstGeom>
          <a:solidFill>
            <a:srgbClr val="162032"/>
          </a:solidFill>
          <a:ln w="635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709928"/>
            <a:ext cx="54864" cy="62179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0136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Inspection Checklist: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checklist covering: naming conventions, exception handling coverage, SQL injection safety, UI error messages.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459736"/>
            <a:ext cx="8595360" cy="621792"/>
          </a:xfrm>
          <a:prstGeom prst="rect">
            <a:avLst/>
          </a:prstGeom>
          <a:solidFill>
            <a:srgbClr val="162032"/>
          </a:solidFill>
          <a:ln w="635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459736"/>
            <a:ext cx="54864" cy="62179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5117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 Logged: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findings documented in a shared issue tracker (GitHub Issues) with assigned owner and resolution status.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209544"/>
            <a:ext cx="8595360" cy="621792"/>
          </a:xfrm>
          <a:prstGeom prst="rect">
            <a:avLst/>
          </a:prstGeom>
          <a:solidFill>
            <a:srgbClr val="162032"/>
          </a:solidFill>
          <a:ln w="635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209544"/>
            <a:ext cx="54864" cy="62179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30098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UML Review: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diagram, ERD, sequence diagram, and use-case diagram reviewed by the team for accuracy against implementation.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959352"/>
            <a:ext cx="8595360" cy="621792"/>
          </a:xfrm>
          <a:prstGeom prst="rect">
            <a:avLst/>
          </a:prstGeom>
          <a:solidFill>
            <a:srgbClr val="162032"/>
          </a:solidFill>
          <a:ln w="635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959352"/>
            <a:ext cx="54864" cy="62179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050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Walkthrough: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end-to-end application walkthrough performed before v1.0 tag; 3 bugs found and fixed (streak reset, report duplicate, login empty field).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HabitFlow – Final Software Engineering Report  |  2025–26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945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FFFF">
                    <a:alpha val="3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011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 Roles &amp; Outcomes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Contributions and learning outcomes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864608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HabitFlow – Final Report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 · Team Roles &amp; Contributions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8595360" cy="658368"/>
          </a:xfrm>
          <a:prstGeom prst="rect">
            <a:avLst/>
          </a:prstGeom>
          <a:solidFill>
            <a:srgbClr val="162032"/>
          </a:solidFill>
          <a:ln w="63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54864" cy="65836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3327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Mahnoor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27101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Lead / Full-Stack Dev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0" y="1069848"/>
            <a:ext cx="5943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architecture, DatabaseManager, User auth, integration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755648"/>
            <a:ext cx="8595360" cy="658368"/>
          </a:xfrm>
          <a:prstGeom prst="rect">
            <a:avLst/>
          </a:prstGeom>
          <a:solidFill>
            <a:srgbClr val="162032"/>
          </a:solidFill>
          <a:ln w="63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755648"/>
            <a:ext cx="54864" cy="65836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828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206654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/ Frontend Developer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0" y="1865376"/>
            <a:ext cx="5943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Dashboard, AddHabit, Stats, Admin screens (Tkinter)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2551176"/>
            <a:ext cx="8595360" cy="658368"/>
          </a:xfrm>
          <a:prstGeom prst="rect">
            <a:avLst/>
          </a:prstGeom>
          <a:solidFill>
            <a:srgbClr val="162032"/>
          </a:solidFill>
          <a:ln w="63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551176"/>
            <a:ext cx="54864" cy="65836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62432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286207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/ Logic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0" y="2660904"/>
            <a:ext cx="5943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StreakManager, ReportManager, Timer, grading system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346704"/>
            <a:ext cx="8595360" cy="658368"/>
          </a:xfrm>
          <a:prstGeom prst="rect">
            <a:avLst/>
          </a:prstGeom>
          <a:solidFill>
            <a:srgbClr val="162032"/>
          </a:solidFill>
          <a:ln w="63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346704"/>
            <a:ext cx="54864" cy="65836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41985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36576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/ Testing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0" y="3456432"/>
            <a:ext cx="5943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tests, peer review checklist, bug tracking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4142232"/>
            <a:ext cx="8595360" cy="658368"/>
          </a:xfrm>
          <a:prstGeom prst="rect">
            <a:avLst/>
          </a:prstGeom>
          <a:solidFill>
            <a:srgbClr val="162032"/>
          </a:solidFill>
          <a:ln w="63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4142232"/>
            <a:ext cx="54864" cy="65836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21538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445312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 / Diagrams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43200" y="4251960"/>
            <a:ext cx="5943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UML diagrams, ERD, sequence diagrams, final report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HabitFlow – Final Software Engineering Report  |  2025–26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 · Key Learning Outcomes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36576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8595360" cy="621792"/>
          </a:xfrm>
          <a:prstGeom prst="rect">
            <a:avLst/>
          </a:prstGeom>
          <a:solidFill>
            <a:srgbClr val="162032"/>
          </a:solidFill>
          <a:ln w="6350">
            <a:solidFill>
              <a:srgbClr val="26A6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54864" cy="621792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A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 Mastery: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encapsulation, inheritance (Panel→screens), abstraction (Habit model), and polymorphism in a real GUI app.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709928"/>
            <a:ext cx="8595360" cy="621792"/>
          </a:xfrm>
          <a:prstGeom prst="rect">
            <a:avLst/>
          </a:prstGeom>
          <a:solidFill>
            <a:srgbClr val="162032"/>
          </a:solidFill>
          <a:ln w="6350">
            <a:solidFill>
              <a:srgbClr val="26A6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709928"/>
            <a:ext cx="54864" cy="621792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0136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A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Lifecycle: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Experienced full SDLC — requirements → design (UML) → implementation → testing → deployment.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459736"/>
            <a:ext cx="8595360" cy="621792"/>
          </a:xfrm>
          <a:prstGeom prst="rect">
            <a:avLst/>
          </a:prstGeom>
          <a:solidFill>
            <a:srgbClr val="162032"/>
          </a:solidFill>
          <a:ln w="6350">
            <a:solidFill>
              <a:srgbClr val="26A6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459736"/>
            <a:ext cx="54864" cy="621792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5117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A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Design: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a normalized SQLite schema with FK constraints, implemented via Python's sqlite3 API.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209544"/>
            <a:ext cx="8595360" cy="621792"/>
          </a:xfrm>
          <a:prstGeom prst="rect">
            <a:avLst/>
          </a:prstGeom>
          <a:solidFill>
            <a:srgbClr val="162032"/>
          </a:solidFill>
          <a:ln w="6350">
            <a:solidFill>
              <a:srgbClr val="26A6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209544"/>
            <a:ext cx="54864" cy="621792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30098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A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Practices: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reviews, exception handling, unit tests, and refactoring applied as professional engineering discipline.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959352"/>
            <a:ext cx="8595360" cy="621792"/>
          </a:xfrm>
          <a:prstGeom prst="rect">
            <a:avLst/>
          </a:prstGeom>
          <a:solidFill>
            <a:srgbClr val="162032"/>
          </a:solidFill>
          <a:ln w="6350">
            <a:solidFill>
              <a:srgbClr val="26A6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959352"/>
            <a:ext cx="54864" cy="621792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050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A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Collaboration: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branching, pull requests, and issue tracking practiced for team coordination.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HabitFlow – Final Software Engineering Report  |  2025–26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945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HabitFlow – Daily Habit Tracker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0" y="3200400"/>
            <a:ext cx="36576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Python · Tkinter · SQLite  |  2025–26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HabitFlow - Final Project Report</dc:title>
  <dc:subject>PptxGenJS Presentation</dc:subject>
  <dc:creator>PptxGenJS</dc:creator>
  <cp:lastModifiedBy>PptxGenJS</cp:lastModifiedBy>
  <cp:revision>1</cp:revision>
  <dcterms:created xsi:type="dcterms:W3CDTF">2026-06-02T05:40:38Z</dcterms:created>
  <dcterms:modified xsi:type="dcterms:W3CDTF">2026-06-02T05:40:38Z</dcterms:modified>
</cp:coreProperties>
</file>